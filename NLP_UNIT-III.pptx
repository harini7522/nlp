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89339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66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91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25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40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16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1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35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9079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9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87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41245AA-C338-4EC6-8F4F-4D5AE5CF8113}" type="datetimeFigureOut">
              <a:rPr lang="en-IN" smtClean="0"/>
              <a:t>09-03-2026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BC956F3D-BFEF-4616-ADDC-54CC372390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037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C05F-2141-4964-0DEE-01AA62BF3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321" y="1008992"/>
            <a:ext cx="10645769" cy="4067505"/>
          </a:xfrm>
        </p:spPr>
        <p:txBody>
          <a:bodyPr/>
          <a:lstStyle/>
          <a:p>
            <a:r>
              <a:rPr lang="en-US" b="1" dirty="0"/>
              <a:t>UNIT-III</a:t>
            </a:r>
            <a:br>
              <a:rPr lang="en-US" b="1" dirty="0"/>
            </a:br>
            <a:r>
              <a:rPr lang="en-US" b="1" dirty="0"/>
              <a:t>Parsing and Tagging</a:t>
            </a:r>
            <a:br>
              <a:rPr lang="en-US" b="1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87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4E190-6A1A-382F-CA9A-6B8810A2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8548"/>
            <a:ext cx="7729728" cy="909426"/>
          </a:xfrm>
        </p:spPr>
        <p:txBody>
          <a:bodyPr/>
          <a:lstStyle/>
          <a:p>
            <a:r>
              <a:rPr lang="en-IN" dirty="0"/>
              <a:t>Introduction to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1386D5-45F7-8F0A-D2F4-9444F881D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7979" y="1250731"/>
            <a:ext cx="7729728" cy="5398721"/>
          </a:xfrm>
        </p:spPr>
        <p:txBody>
          <a:bodyPr>
            <a:normAutofit/>
          </a:bodyPr>
          <a:lstStyle/>
          <a:p>
            <a:r>
              <a:rPr lang="en-US" b="1" dirty="0"/>
              <a:t>Parsing</a:t>
            </a:r>
            <a:r>
              <a:rPr lang="en-US" dirty="0"/>
              <a:t> is the process of analyzing the </a:t>
            </a:r>
            <a:r>
              <a:rPr lang="en-US" b="1" dirty="0"/>
              <a:t>grammatical structure of a sentence</a:t>
            </a:r>
            <a:r>
              <a:rPr lang="en-US" dirty="0"/>
              <a:t> in Natural Language Processing (NLP).</a:t>
            </a:r>
          </a:p>
          <a:p>
            <a:r>
              <a:rPr lang="en-US" dirty="0"/>
              <a:t>It helps computers understand how words are related in a sentence.</a:t>
            </a:r>
          </a:p>
          <a:p>
            <a:r>
              <a:rPr lang="en-US" b="1" dirty="0"/>
              <a:t>Example Sentence</a:t>
            </a:r>
            <a:endParaRPr lang="en-US" dirty="0"/>
          </a:p>
          <a:p>
            <a:r>
              <a:rPr lang="en-US" dirty="0"/>
              <a:t>"Harini reads a book"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Subject → Harini</a:t>
            </a:r>
          </a:p>
          <a:p>
            <a:r>
              <a:rPr lang="en-US" dirty="0"/>
              <a:t>Verb → reads</a:t>
            </a:r>
          </a:p>
          <a:p>
            <a:r>
              <a:rPr lang="en-US" dirty="0"/>
              <a:t>Object → book</a:t>
            </a:r>
          </a:p>
          <a:p>
            <a:r>
              <a:rPr lang="en-US" b="1" dirty="0"/>
              <a:t>Purpose of Parsing</a:t>
            </a:r>
            <a:endParaRPr lang="en-US" dirty="0"/>
          </a:p>
          <a:p>
            <a:r>
              <a:rPr lang="en-US" dirty="0"/>
              <a:t>Understand sentence meaning</a:t>
            </a:r>
          </a:p>
          <a:p>
            <a:r>
              <a:rPr lang="en-US" dirty="0"/>
              <a:t>Identify relationships between words</a:t>
            </a:r>
          </a:p>
          <a:p>
            <a:r>
              <a:rPr lang="en-US" dirty="0"/>
              <a:t>Support language processing tasks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5249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E1D34-A6A8-5671-BE9A-B41CA35E7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24590"/>
            <a:ext cx="7729728" cy="893384"/>
          </a:xfrm>
        </p:spPr>
        <p:txBody>
          <a:bodyPr/>
          <a:lstStyle/>
          <a:p>
            <a:r>
              <a:rPr lang="en-IN" dirty="0"/>
              <a:t>Tagging in NLP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28C36-A185-0DAB-6C1C-2939F4C11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250731"/>
            <a:ext cx="7729728" cy="5234151"/>
          </a:xfrm>
        </p:spPr>
        <p:txBody>
          <a:bodyPr/>
          <a:lstStyle/>
          <a:p>
            <a:r>
              <a:rPr lang="en-US" b="1" dirty="0"/>
              <a:t>Tagging</a:t>
            </a:r>
            <a:r>
              <a:rPr lang="en-US" dirty="0"/>
              <a:t> means assigning </a:t>
            </a:r>
            <a:r>
              <a:rPr lang="en-US" b="1" dirty="0"/>
              <a:t>labels or tags</a:t>
            </a:r>
            <a:r>
              <a:rPr lang="en-US" dirty="0"/>
              <a:t> to words in a sentence.</a:t>
            </a:r>
          </a:p>
          <a:p>
            <a:r>
              <a:rPr lang="en-US" dirty="0"/>
              <a:t>The most common tagging technique is </a:t>
            </a:r>
            <a:r>
              <a:rPr lang="en-US" b="1" dirty="0"/>
              <a:t>Part-of-Speech (POS) Tagging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Sentence:</a:t>
            </a:r>
            <a:br>
              <a:rPr lang="en-US" dirty="0"/>
            </a:br>
            <a:r>
              <a:rPr lang="en-US" dirty="0"/>
              <a:t>"She enjoys music"</a:t>
            </a:r>
          </a:p>
          <a:p>
            <a:r>
              <a:rPr lang="en-US" dirty="0"/>
              <a:t>POS Tags:</a:t>
            </a:r>
          </a:p>
          <a:p>
            <a:r>
              <a:rPr lang="en-US" dirty="0"/>
              <a:t>She → Pronoun</a:t>
            </a:r>
            <a:br>
              <a:rPr lang="en-US" dirty="0"/>
            </a:br>
            <a:r>
              <a:rPr lang="en-US" dirty="0"/>
              <a:t>enjoys → Verb</a:t>
            </a:r>
            <a:br>
              <a:rPr lang="en-US" dirty="0"/>
            </a:br>
            <a:r>
              <a:rPr lang="en-US" dirty="0"/>
              <a:t>music → Noun</a:t>
            </a:r>
          </a:p>
          <a:p>
            <a:r>
              <a:rPr lang="en-US" dirty="0"/>
              <a:t>Tagging helps systems understand </a:t>
            </a:r>
            <a:r>
              <a:rPr lang="en-US" b="1" dirty="0"/>
              <a:t>word functions in sentences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8262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8B0F-6FEA-3EDD-641C-68A956C68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128337"/>
            <a:ext cx="7729728" cy="850231"/>
          </a:xfrm>
        </p:spPr>
        <p:txBody>
          <a:bodyPr/>
          <a:lstStyle/>
          <a:p>
            <a:r>
              <a:rPr lang="en-IN" dirty="0"/>
              <a:t>Shallow Parsing (Chunking)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83664-5179-6EE1-7F44-A796DA096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156137"/>
            <a:ext cx="7729728" cy="5444359"/>
          </a:xfrm>
        </p:spPr>
        <p:txBody>
          <a:bodyPr>
            <a:normAutofit/>
          </a:bodyPr>
          <a:lstStyle/>
          <a:p>
            <a:r>
              <a:rPr lang="en-US" b="1" dirty="0"/>
              <a:t>Shallow Parsing</a:t>
            </a:r>
            <a:r>
              <a:rPr lang="en-US" dirty="0"/>
              <a:t> is also called </a:t>
            </a:r>
            <a:r>
              <a:rPr lang="en-US" b="1" dirty="0"/>
              <a:t>Chunking</a:t>
            </a:r>
            <a:r>
              <a:rPr lang="en-US" dirty="0"/>
              <a:t>.</a:t>
            </a:r>
          </a:p>
          <a:p>
            <a:r>
              <a:rPr lang="en-US" dirty="0"/>
              <a:t>It identifies </a:t>
            </a:r>
            <a:r>
              <a:rPr lang="en-US" b="1" dirty="0"/>
              <a:t>groups of words (phrases)</a:t>
            </a:r>
            <a:r>
              <a:rPr lang="en-US" dirty="0"/>
              <a:t> in a sentence but does not produce a complete parse tree.</a:t>
            </a:r>
          </a:p>
          <a:p>
            <a:r>
              <a:rPr lang="en-US" dirty="0"/>
              <a:t>Common chunks:</a:t>
            </a:r>
          </a:p>
          <a:p>
            <a:r>
              <a:rPr lang="en-US" dirty="0"/>
              <a:t>Noun Phrase (NP)</a:t>
            </a:r>
          </a:p>
          <a:p>
            <a:r>
              <a:rPr lang="en-US" dirty="0"/>
              <a:t>Verb Phrase (VP)</a:t>
            </a:r>
          </a:p>
          <a:p>
            <a:r>
              <a:rPr lang="en-US" dirty="0"/>
              <a:t>Prepositional Phrase (PP)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Sentence:</a:t>
            </a:r>
            <a:br>
              <a:rPr lang="en-US" dirty="0"/>
            </a:br>
            <a:r>
              <a:rPr lang="en-US" dirty="0"/>
              <a:t>"The smart student solved the problem"</a:t>
            </a:r>
          </a:p>
          <a:p>
            <a:r>
              <a:rPr lang="en-US" dirty="0"/>
              <a:t>Chunks:</a:t>
            </a:r>
          </a:p>
          <a:p>
            <a:r>
              <a:rPr lang="en-US" dirty="0"/>
              <a:t>[NP The smart student]</a:t>
            </a:r>
            <a:br>
              <a:rPr lang="en-US" dirty="0"/>
            </a:br>
            <a:r>
              <a:rPr lang="en-US" dirty="0"/>
              <a:t>[VP solved]</a:t>
            </a:r>
            <a:br>
              <a:rPr lang="en-US" dirty="0"/>
            </a:br>
            <a:r>
              <a:rPr lang="en-US" dirty="0"/>
              <a:t>[NP the problem]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6581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D215-876F-BDAF-6036-0066B06AD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4800"/>
            <a:ext cx="7729728" cy="813173"/>
          </a:xfrm>
        </p:spPr>
        <p:txBody>
          <a:bodyPr/>
          <a:lstStyle/>
          <a:p>
            <a:r>
              <a:rPr lang="en-IN" dirty="0"/>
              <a:t>Dependency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78952-88EC-9A1B-3DA5-7B9E472D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459832"/>
            <a:ext cx="7729728" cy="5093368"/>
          </a:xfrm>
        </p:spPr>
        <p:txBody>
          <a:bodyPr/>
          <a:lstStyle/>
          <a:p>
            <a:r>
              <a:rPr lang="en-US" b="1" dirty="0"/>
              <a:t>Dependency Parsing</a:t>
            </a:r>
            <a:r>
              <a:rPr lang="en-US" dirty="0"/>
              <a:t> analyzes </a:t>
            </a:r>
            <a:r>
              <a:rPr lang="en-US" b="1" dirty="0"/>
              <a:t>relationships between words</a:t>
            </a:r>
            <a:r>
              <a:rPr lang="en-US" dirty="0"/>
              <a:t> in a sentence.</a:t>
            </a:r>
          </a:p>
          <a:p>
            <a:r>
              <a:rPr lang="en-US" dirty="0"/>
              <a:t>Each word depends on another word called the </a:t>
            </a:r>
            <a:r>
              <a:rPr lang="en-US" b="1" dirty="0"/>
              <a:t>head word</a:t>
            </a:r>
            <a:r>
              <a:rPr lang="en-US" dirty="0"/>
              <a:t>.</a:t>
            </a:r>
          </a:p>
          <a:p>
            <a:r>
              <a:rPr lang="en-US" dirty="0"/>
              <a:t>It forms a </a:t>
            </a:r>
            <a:r>
              <a:rPr lang="en-US" b="1" dirty="0"/>
              <a:t>dependency tree</a:t>
            </a:r>
            <a:r>
              <a:rPr lang="en-US" dirty="0"/>
              <a:t>.</a:t>
            </a:r>
          </a:p>
          <a:p>
            <a:r>
              <a:rPr lang="en-US" b="1" dirty="0"/>
              <a:t>Example</a:t>
            </a:r>
            <a:endParaRPr lang="en-US" dirty="0"/>
          </a:p>
          <a:p>
            <a:r>
              <a:rPr lang="en-US" dirty="0"/>
              <a:t>Sentence:</a:t>
            </a:r>
            <a:br>
              <a:rPr lang="en-US" dirty="0"/>
            </a:br>
            <a:r>
              <a:rPr lang="en-US" dirty="0"/>
              <a:t>"She reads books"</a:t>
            </a:r>
          </a:p>
          <a:p>
            <a:r>
              <a:rPr lang="en-US" dirty="0"/>
              <a:t>Relationships:</a:t>
            </a:r>
          </a:p>
          <a:p>
            <a:r>
              <a:rPr lang="en-US" dirty="0"/>
              <a:t>reads → root</a:t>
            </a:r>
            <a:br>
              <a:rPr lang="en-US" dirty="0"/>
            </a:br>
            <a:r>
              <a:rPr lang="en-US" dirty="0"/>
              <a:t>She → subject of reads</a:t>
            </a:r>
            <a:br>
              <a:rPr lang="en-US" dirty="0"/>
            </a:br>
            <a:r>
              <a:rPr lang="en-US" dirty="0"/>
              <a:t>books → object of reads</a:t>
            </a:r>
          </a:p>
          <a:p>
            <a:r>
              <a:rPr lang="en-US" dirty="0"/>
              <a:t>Dependency parsing focuses on </a:t>
            </a:r>
            <a:r>
              <a:rPr lang="en-US" b="1" dirty="0"/>
              <a:t>word-to-word relationships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376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FE094-DFA3-774D-F12C-82264079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8548"/>
            <a:ext cx="7729728" cy="786064"/>
          </a:xfrm>
        </p:spPr>
        <p:txBody>
          <a:bodyPr/>
          <a:lstStyle/>
          <a:p>
            <a:r>
              <a:rPr lang="en-IN" dirty="0"/>
              <a:t>Constituency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E9602-0FF7-30C8-ECE6-DDC86B69D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135118"/>
            <a:ext cx="7729728" cy="5089220"/>
          </a:xfrm>
        </p:spPr>
        <p:txBody>
          <a:bodyPr/>
          <a:lstStyle/>
          <a:p>
            <a:r>
              <a:rPr lang="en-US" b="1" dirty="0"/>
              <a:t>Constituency Parsing</a:t>
            </a:r>
            <a:r>
              <a:rPr lang="en-US" dirty="0"/>
              <a:t> is also known as </a:t>
            </a:r>
            <a:r>
              <a:rPr lang="en-US" b="1" dirty="0"/>
              <a:t>Phrase Structure Parsing</a:t>
            </a:r>
            <a:r>
              <a:rPr lang="en-US" dirty="0"/>
              <a:t>.</a:t>
            </a:r>
          </a:p>
          <a:p>
            <a:r>
              <a:rPr lang="en-US" dirty="0"/>
              <a:t>It divides sentences into </a:t>
            </a:r>
            <a:r>
              <a:rPr lang="en-US" b="1" dirty="0"/>
              <a:t>sub-phrases or constituents</a:t>
            </a:r>
            <a:r>
              <a:rPr lang="en-US" dirty="0"/>
              <a:t>.</a:t>
            </a:r>
          </a:p>
          <a:p>
            <a:r>
              <a:rPr lang="en-US" dirty="0"/>
              <a:t>It represents the structure using a </a:t>
            </a:r>
            <a:r>
              <a:rPr lang="en-US" b="1" dirty="0"/>
              <a:t>parse tree</a:t>
            </a:r>
            <a:r>
              <a:rPr lang="en-US" dirty="0"/>
              <a:t>.</a:t>
            </a:r>
          </a:p>
          <a:p>
            <a:r>
              <a:rPr lang="en-US" dirty="0"/>
              <a:t>Example sentence:</a:t>
            </a:r>
          </a:p>
          <a:p>
            <a:r>
              <a:rPr lang="en-US" dirty="0"/>
              <a:t>"The boy eats an apple"</a:t>
            </a:r>
          </a:p>
          <a:p>
            <a:r>
              <a:rPr lang="en-US" dirty="0"/>
              <a:t>Structure:</a:t>
            </a:r>
          </a:p>
          <a:p>
            <a:r>
              <a:rPr lang="en-US" dirty="0"/>
              <a:t>S (Sentence)</a:t>
            </a:r>
            <a:br>
              <a:rPr lang="en-US" dirty="0"/>
            </a:br>
            <a:r>
              <a:rPr lang="en-US" dirty="0"/>
              <a:t>NP (Noun Phrase) → The boy</a:t>
            </a:r>
            <a:br>
              <a:rPr lang="en-US" dirty="0"/>
            </a:br>
            <a:r>
              <a:rPr lang="en-US" dirty="0"/>
              <a:t>VP (Verb Phrase) → eats an apple</a:t>
            </a:r>
          </a:p>
          <a:p>
            <a:r>
              <a:rPr lang="en-US" dirty="0"/>
              <a:t>It shows </a:t>
            </a:r>
            <a:r>
              <a:rPr lang="en-US" b="1" dirty="0"/>
              <a:t>hierarchical sentence structure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9545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DE61F-2A3F-EB54-B558-A622CDBBF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04800"/>
            <a:ext cx="7729728" cy="1187116"/>
          </a:xfrm>
        </p:spPr>
        <p:txBody>
          <a:bodyPr/>
          <a:lstStyle/>
          <a:p>
            <a:r>
              <a:rPr lang="en-US" dirty="0"/>
              <a:t>Difference Between Dependency and Constituency Parsing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95B45A8-707C-14A4-CCA1-B3757BCCF8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0428116"/>
              </p:ext>
            </p:extLst>
          </p:nvPr>
        </p:nvGraphicFramePr>
        <p:xfrm>
          <a:off x="2123090" y="1723696"/>
          <a:ext cx="7838474" cy="3993930"/>
        </p:xfrm>
        <a:graphic>
          <a:graphicData uri="http://schemas.openxmlformats.org/drawingml/2006/table">
            <a:tbl>
              <a:tblPr lastRow="1"/>
              <a:tblGrid>
                <a:gridCol w="2684390">
                  <a:extLst>
                    <a:ext uri="{9D8B030D-6E8A-4147-A177-3AD203B41FA5}">
                      <a16:colId xmlns:a16="http://schemas.microsoft.com/office/drawing/2014/main" val="3539634642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3812611120"/>
                    </a:ext>
                  </a:extLst>
                </a:gridCol>
                <a:gridCol w="2577042">
                  <a:extLst>
                    <a:ext uri="{9D8B030D-6E8A-4147-A177-3AD203B41FA5}">
                      <a16:colId xmlns:a16="http://schemas.microsoft.com/office/drawing/2014/main" val="364378540"/>
                    </a:ext>
                  </a:extLst>
                </a:gridCol>
              </a:tblGrid>
              <a:tr h="80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Constituency Parsing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Dependency Parsing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439447"/>
                  </a:ext>
                </a:extLst>
              </a:tr>
              <a:tr h="787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Phrase 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Word based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913040"/>
                  </a:ext>
                </a:extLst>
              </a:tr>
              <a:tr h="80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Tree of phrases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Directed graph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2554617"/>
                  </a:ext>
                </a:extLst>
              </a:tr>
              <a:tr h="80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Grammar 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Word relationships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465138"/>
                  </a:ext>
                </a:extLst>
              </a:tr>
              <a:tr h="8016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Usage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Linguistic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Practical NLP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244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8367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7A1EF-F706-0FCF-9141-64EF4A54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08547"/>
            <a:ext cx="7729728" cy="721895"/>
          </a:xfrm>
        </p:spPr>
        <p:txBody>
          <a:bodyPr>
            <a:normAutofit fontScale="90000"/>
          </a:bodyPr>
          <a:lstStyle/>
          <a:p>
            <a:r>
              <a:rPr lang="en-IN" dirty="0"/>
              <a:t>Named Entity Recognition (NER)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9ABF1-120E-AB1E-5D53-A1BB0D42C5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103586"/>
            <a:ext cx="7729728" cy="554586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Named Entity Recognition (NER)</a:t>
            </a:r>
            <a:r>
              <a:rPr lang="en-IN" dirty="0"/>
              <a:t> is an NLP technique used to </a:t>
            </a:r>
            <a:r>
              <a:rPr lang="en-IN" b="1" dirty="0"/>
              <a:t>identify and classify important entities in text</a:t>
            </a:r>
            <a:r>
              <a:rPr lang="en-IN" dirty="0"/>
              <a:t>.</a:t>
            </a:r>
          </a:p>
          <a:p>
            <a:r>
              <a:rPr lang="en-IN" dirty="0"/>
              <a:t>Common entity types include:</a:t>
            </a:r>
          </a:p>
          <a:p>
            <a:r>
              <a:rPr lang="en-IN" dirty="0"/>
              <a:t>Person</a:t>
            </a:r>
          </a:p>
          <a:p>
            <a:r>
              <a:rPr lang="en-IN" dirty="0"/>
              <a:t>Location</a:t>
            </a:r>
          </a:p>
          <a:p>
            <a:r>
              <a:rPr lang="en-IN" dirty="0"/>
              <a:t>Organization</a:t>
            </a:r>
          </a:p>
          <a:p>
            <a:r>
              <a:rPr lang="en-IN" dirty="0"/>
              <a:t>Date</a:t>
            </a:r>
          </a:p>
          <a:p>
            <a:r>
              <a:rPr lang="en-IN" dirty="0"/>
              <a:t>Time</a:t>
            </a:r>
          </a:p>
          <a:p>
            <a:r>
              <a:rPr lang="en-IN" dirty="0"/>
              <a:t>Money</a:t>
            </a:r>
          </a:p>
          <a:p>
            <a:r>
              <a:rPr lang="en-IN" b="1" dirty="0"/>
              <a:t>Example</a:t>
            </a:r>
            <a:endParaRPr lang="en-IN" dirty="0"/>
          </a:p>
          <a:p>
            <a:r>
              <a:rPr lang="en-IN" dirty="0"/>
              <a:t>Sentence:</a:t>
            </a:r>
          </a:p>
          <a:p>
            <a:r>
              <a:rPr lang="en-IN" dirty="0"/>
              <a:t>"Harini studies at  </a:t>
            </a:r>
            <a:r>
              <a:rPr lang="en-IN" dirty="0" err="1"/>
              <a:t>Takshashila</a:t>
            </a:r>
            <a:r>
              <a:rPr lang="en-IN" dirty="0"/>
              <a:t> University in Chennai."</a:t>
            </a:r>
          </a:p>
          <a:p>
            <a:r>
              <a:rPr lang="en-IN" dirty="0"/>
              <a:t>Entities detected:</a:t>
            </a:r>
          </a:p>
          <a:p>
            <a:r>
              <a:rPr lang="en-IN" dirty="0"/>
              <a:t>Harini → Person</a:t>
            </a:r>
          </a:p>
          <a:p>
            <a:r>
              <a:rPr lang="en-IN" dirty="0" err="1"/>
              <a:t>Takshashila</a:t>
            </a:r>
            <a:r>
              <a:rPr lang="en-IN" dirty="0"/>
              <a:t> University → Organization</a:t>
            </a:r>
          </a:p>
          <a:p>
            <a:r>
              <a:rPr lang="en-IN" dirty="0"/>
              <a:t>Chennai → Location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2301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852D9-4BF0-5465-30B3-7F30BCE4A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36884"/>
            <a:ext cx="7729728" cy="1058779"/>
          </a:xfrm>
        </p:spPr>
        <p:txBody>
          <a:bodyPr/>
          <a:lstStyle/>
          <a:p>
            <a:r>
              <a:rPr lang="en-IN" dirty="0"/>
              <a:t>Grammar-Based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D9309-E345-398B-891B-55562F1D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576551"/>
            <a:ext cx="7729728" cy="4561489"/>
          </a:xfrm>
        </p:spPr>
        <p:txBody>
          <a:bodyPr>
            <a:normAutofit/>
          </a:bodyPr>
          <a:lstStyle/>
          <a:p>
            <a:r>
              <a:rPr lang="en-US" b="1" dirty="0"/>
              <a:t>Grammar-Based Parsing</a:t>
            </a:r>
            <a:r>
              <a:rPr lang="en-US" dirty="0"/>
              <a:t> uses </a:t>
            </a:r>
            <a:r>
              <a:rPr lang="en-US" b="1" dirty="0"/>
              <a:t>linguistic rules</a:t>
            </a:r>
            <a:r>
              <a:rPr lang="en-US" dirty="0"/>
              <a:t> to analyze sentences.</a:t>
            </a:r>
          </a:p>
          <a:p>
            <a:r>
              <a:rPr lang="en-US" dirty="0"/>
              <a:t>It relies on </a:t>
            </a:r>
            <a:r>
              <a:rPr lang="en-US" b="1" dirty="0"/>
              <a:t>Context Free Grammar (CFG)</a:t>
            </a:r>
            <a:r>
              <a:rPr lang="en-US" dirty="0"/>
              <a:t>.</a:t>
            </a:r>
          </a:p>
          <a:p>
            <a:r>
              <a:rPr lang="en-US" dirty="0"/>
              <a:t>Example rule:</a:t>
            </a:r>
          </a:p>
          <a:p>
            <a:r>
              <a:rPr lang="en-US" dirty="0"/>
              <a:t>S → NP + VP</a:t>
            </a:r>
          </a:p>
          <a:p>
            <a:r>
              <a:rPr lang="en-US" dirty="0"/>
              <a:t>Advantages:</a:t>
            </a:r>
          </a:p>
          <a:p>
            <a:r>
              <a:rPr lang="en-US" dirty="0"/>
              <a:t>Clear structure</a:t>
            </a:r>
          </a:p>
          <a:p>
            <a:r>
              <a:rPr lang="en-US" dirty="0"/>
              <a:t>Linguistically accurate</a:t>
            </a:r>
          </a:p>
          <a:p>
            <a:r>
              <a:rPr lang="en-US" dirty="0"/>
              <a:t>Disadvantages:</a:t>
            </a:r>
          </a:p>
          <a:p>
            <a:r>
              <a:rPr lang="en-US" dirty="0"/>
              <a:t>Hard to create many grammar rules</a:t>
            </a:r>
          </a:p>
          <a:p>
            <a:r>
              <a:rPr lang="en-US" dirty="0"/>
              <a:t>Not flexible for real-world language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317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08A15-6107-ACB5-9C52-EF71D1359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20842"/>
            <a:ext cx="7729728" cy="797131"/>
          </a:xfrm>
        </p:spPr>
        <p:txBody>
          <a:bodyPr/>
          <a:lstStyle/>
          <a:p>
            <a:r>
              <a:rPr lang="en-IN" dirty="0"/>
              <a:t>Statistical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096C0-9D52-DBF3-751B-FA112CA19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1292772"/>
            <a:ext cx="7729728" cy="524438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Statistical Parsing</a:t>
            </a:r>
            <a:r>
              <a:rPr lang="en-IN" dirty="0"/>
              <a:t> uses </a:t>
            </a:r>
            <a:r>
              <a:rPr lang="en-IN" b="1" dirty="0"/>
              <a:t>probability and machine learning</a:t>
            </a:r>
            <a:r>
              <a:rPr lang="en-IN" dirty="0"/>
              <a:t> to parse sentences.</a:t>
            </a:r>
          </a:p>
          <a:p>
            <a:r>
              <a:rPr lang="en-IN" dirty="0"/>
              <a:t>It learns patterns from </a:t>
            </a:r>
            <a:r>
              <a:rPr lang="en-IN" b="1" dirty="0"/>
              <a:t>large datasets (corpus)</a:t>
            </a:r>
            <a:r>
              <a:rPr lang="en-IN" dirty="0"/>
              <a:t>.</a:t>
            </a:r>
          </a:p>
          <a:p>
            <a:r>
              <a:rPr lang="en-IN" dirty="0"/>
              <a:t>Example technique:</a:t>
            </a:r>
          </a:p>
          <a:p>
            <a:r>
              <a:rPr lang="en-IN" dirty="0"/>
              <a:t>Probabilistic Context Free Grammar (PCFG)</a:t>
            </a:r>
          </a:p>
          <a:p>
            <a:r>
              <a:rPr lang="en-IN" dirty="0"/>
              <a:t>Advantages:</a:t>
            </a:r>
          </a:p>
          <a:p>
            <a:r>
              <a:rPr lang="en-IN" dirty="0"/>
              <a:t>More accurate</a:t>
            </a:r>
          </a:p>
          <a:p>
            <a:r>
              <a:rPr lang="en-IN" dirty="0"/>
              <a:t>Handles ambiguity better</a:t>
            </a:r>
          </a:p>
          <a:p>
            <a:r>
              <a:rPr lang="en-IN" dirty="0"/>
              <a:t>Works well with large data</a:t>
            </a:r>
          </a:p>
          <a:p>
            <a:r>
              <a:rPr lang="en-IN" dirty="0"/>
              <a:t>Applications:</a:t>
            </a:r>
          </a:p>
          <a:p>
            <a:r>
              <a:rPr lang="en-IN" dirty="0"/>
              <a:t>Chatbots</a:t>
            </a:r>
          </a:p>
          <a:p>
            <a:r>
              <a:rPr lang="en-IN" dirty="0"/>
              <a:t>Machine translation</a:t>
            </a:r>
          </a:p>
          <a:p>
            <a:r>
              <a:rPr lang="en-IN" dirty="0"/>
              <a:t>Search engines</a:t>
            </a:r>
          </a:p>
          <a:p>
            <a:r>
              <a:rPr lang="en-IN" dirty="0"/>
              <a:t>Voice assistants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7352659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13</TotalTime>
  <Words>540</Words>
  <Application>Microsoft Office PowerPoint</Application>
  <PresentationFormat>Widescreen</PresentationFormat>
  <Paragraphs>108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UNIT-III Parsing and Tagging </vt:lpstr>
      <vt:lpstr>Introduction to Parsing</vt:lpstr>
      <vt:lpstr>Tagging in NLP</vt:lpstr>
      <vt:lpstr>Shallow Parsing (Chunking)</vt:lpstr>
      <vt:lpstr>Dependency Parsing</vt:lpstr>
      <vt:lpstr>Constituency Parsing</vt:lpstr>
      <vt:lpstr>Difference Between Dependency and Constituency Parsing</vt:lpstr>
      <vt:lpstr>Named Entity Recognition (NER)</vt:lpstr>
      <vt:lpstr>Grammar-Based Parsing</vt:lpstr>
      <vt:lpstr>Statistical Parsing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Harini .T</dc:creator>
  <cp:lastModifiedBy>Harini .T</cp:lastModifiedBy>
  <cp:revision>1</cp:revision>
  <dcterms:created xsi:type="dcterms:W3CDTF">2026-03-09T08:56:44Z</dcterms:created>
  <dcterms:modified xsi:type="dcterms:W3CDTF">2026-03-09T09:10:00Z</dcterms:modified>
</cp:coreProperties>
</file>